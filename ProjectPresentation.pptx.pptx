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87" r:id="rId9"/>
    <p:sldId id="262" r:id="rId10"/>
    <p:sldId id="264"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naveer Gangarapu" initials="RG" lastIdx="1" clrIdx="0">
    <p:extLst>
      <p:ext uri="{19B8F6BF-5375-455C-9EA6-DF929625EA0E}">
        <p15:presenceInfo xmlns:p15="http://schemas.microsoft.com/office/powerpoint/2012/main" userId="6019a5cc17240c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75" d="100"/>
          <a:sy n="75" d="100"/>
        </p:scale>
        <p:origin x="708" y="2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6-05T11:10:06.444" idx="1">
    <p:pos x="808" y="2184"/>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3655368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Ranaveer Gangarapu</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gangarapuranaveer5@gmail.com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8074257268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Research Agent </a:t>
            </a:r>
            <a:endParaRPr lang="en-IN" sz="2400" b="1" dirty="0">
              <a:highlight>
                <a:srgbClr val="FFFF00"/>
              </a:highlight>
            </a:endParaRPr>
          </a:p>
        </p:txBody>
      </p:sp>
      <p:pic>
        <p:nvPicPr>
          <p:cNvPr id="3" name="Picture 2">
            <a:extLst>
              <a:ext uri="{FF2B5EF4-FFF2-40B4-BE49-F238E27FC236}">
                <a16:creationId xmlns:a16="http://schemas.microsoft.com/office/drawing/2014/main" id="{A8CFCB61-9438-6CBD-366F-195B3D9ACB6A}"/>
              </a:ext>
            </a:extLst>
          </p:cNvPr>
          <p:cNvPicPr>
            <a:picLocks noChangeAspect="1"/>
          </p:cNvPicPr>
          <p:nvPr/>
        </p:nvPicPr>
        <p:blipFill>
          <a:blip r:embed="rId3"/>
          <a:stretch>
            <a:fillRect/>
          </a:stretch>
        </p:blipFill>
        <p:spPr>
          <a:xfrm>
            <a:off x="4076534" y="3562349"/>
            <a:ext cx="933616" cy="12050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1356642" y="444972"/>
            <a:ext cx="7292776" cy="7386638"/>
          </a:xfrm>
          <a:prstGeom prst="rect">
            <a:avLst/>
          </a:prstGeom>
          <a:noFill/>
        </p:spPr>
        <p:txBody>
          <a:bodyPr wrap="square" rtlCol="0">
            <a:spAutoFit/>
          </a:bodyPr>
          <a:lstStyle/>
          <a:p>
            <a:r>
              <a:rPr lang="en-US" sz="2400" b="1" dirty="0"/>
              <a:t>Problem Statement - </a:t>
            </a:r>
            <a:r>
              <a:rPr lang="en-IN" sz="2400" dirty="0"/>
              <a:t>Research Agent</a:t>
            </a:r>
          </a:p>
          <a:p>
            <a:endParaRPr lang="en-IN" sz="2400" dirty="0"/>
          </a:p>
          <a:p>
            <a:r>
              <a:rPr lang="en-IN" sz="2400" b="1" dirty="0"/>
              <a:t>The Challenge</a:t>
            </a:r>
          </a:p>
          <a:p>
            <a:r>
              <a:rPr lang="en-IN" sz="1800" dirty="0"/>
              <a:t>Researchers and students spend significant time searching for relevant papers, summarizing findings, managing citations, and identifying research gaps. With the growing volume of academic literature, finding accurate and reliable information has become increasingly difficult.</a:t>
            </a:r>
          </a:p>
          <a:p>
            <a:endParaRPr lang="en-IN" sz="1800" dirty="0"/>
          </a:p>
          <a:p>
            <a:r>
              <a:rPr lang="en-IN" sz="2400" b="1" dirty="0"/>
              <a:t>The Objective</a:t>
            </a:r>
          </a:p>
          <a:p>
            <a:r>
              <a:rPr lang="en-IN" sz="1600" dirty="0"/>
              <a:t>Build an </a:t>
            </a:r>
            <a:r>
              <a:rPr lang="en-IN" sz="1600" b="1" dirty="0"/>
              <a:t>AI-powered Research Agent</a:t>
            </a:r>
            <a:r>
              <a:rPr lang="en-IN" sz="1600" dirty="0"/>
              <a:t> that assists users in conducting efficient academic and scientific research. The solution should:</a:t>
            </a:r>
          </a:p>
          <a:p>
            <a:r>
              <a:rPr lang="en-IN" sz="1600" b="1" dirty="0"/>
              <a:t>Literature Search</a:t>
            </a:r>
            <a:r>
              <a:rPr lang="en-IN" sz="1600" dirty="0"/>
              <a:t> – Retrieve relevant research papers and articles. </a:t>
            </a:r>
          </a:p>
          <a:p>
            <a:r>
              <a:rPr lang="en-IN" sz="1600" b="1" dirty="0"/>
              <a:t>Paper Summarization</a:t>
            </a:r>
            <a:r>
              <a:rPr lang="en-IN" sz="1600" dirty="0"/>
              <a:t> – Generate concise summaries of research documents. </a:t>
            </a:r>
          </a:p>
          <a:p>
            <a:r>
              <a:rPr lang="en-IN" sz="1600" b="1" dirty="0"/>
              <a:t>Citation Management</a:t>
            </a:r>
            <a:r>
              <a:rPr lang="en-IN" sz="1600" dirty="0"/>
              <a:t> – Create and organize references in standard formats. </a:t>
            </a:r>
          </a:p>
          <a:p>
            <a:r>
              <a:rPr lang="en-IN" sz="1600" b="1" dirty="0"/>
              <a:t>Research Gap Analysis</a:t>
            </a:r>
            <a:r>
              <a:rPr lang="en-IN" sz="1600" dirty="0"/>
              <a:t> – Identify limitations and future research opportunities. </a:t>
            </a:r>
          </a:p>
          <a:p>
            <a:r>
              <a:rPr lang="en-IN" sz="1800" b="1" dirty="0"/>
              <a:t>Hypothesis Generation</a:t>
            </a:r>
            <a:r>
              <a:rPr lang="en-IN" sz="1800" dirty="0"/>
              <a:t> – Suggest innovative research ideas. </a:t>
            </a:r>
          </a:p>
          <a:p>
            <a:r>
              <a:rPr lang="en-IN" sz="1800" b="1" dirty="0"/>
              <a:t>Report Generation</a:t>
            </a:r>
            <a:r>
              <a:rPr lang="en-IN" sz="1800" dirty="0"/>
              <a:t> – Generate literature reviews and research reports.</a:t>
            </a:r>
          </a:p>
          <a:p>
            <a:endParaRPr lang="en-IN" sz="2400" dirty="0"/>
          </a:p>
          <a:p>
            <a:endParaRPr lang="en-IN" sz="2400" dirty="0"/>
          </a:p>
          <a:p>
            <a:endParaRPr lang="en-IN" sz="2400"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1815882"/>
          </a:xfrm>
          <a:prstGeom prst="rect">
            <a:avLst/>
          </a:prstGeom>
          <a:noFill/>
        </p:spPr>
        <p:txBody>
          <a:bodyPr wrap="square" rtlCol="0">
            <a:spAutoFit/>
          </a:bodyPr>
          <a:lstStyle/>
          <a:p>
            <a:pPr fontAlgn="base"/>
            <a:endParaRPr lang="en-US" b="1" dirty="0"/>
          </a:p>
          <a:p>
            <a:pPr fontAlgn="base"/>
            <a:endParaRPr lang="en-IN" dirty="0"/>
          </a:p>
          <a:p>
            <a:pPr fontAlgn="base"/>
            <a:endParaRPr lang="en-IN"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1409958" y="0"/>
            <a:ext cx="7214616" cy="6955750"/>
          </a:xfrm>
          <a:prstGeom prst="rect">
            <a:avLst/>
          </a:prstGeom>
          <a:noFill/>
        </p:spPr>
        <p:txBody>
          <a:bodyPr wrap="square" rtlCol="0">
            <a:spAutoFit/>
          </a:bodyPr>
          <a:lstStyle/>
          <a:p>
            <a:r>
              <a:rPr lang="en-IN" sz="2400" b="1" dirty="0"/>
              <a:t>Technology Used</a:t>
            </a:r>
          </a:p>
          <a:p>
            <a:endParaRPr lang="en-IN" sz="2400" b="1" dirty="0"/>
          </a:p>
          <a:p>
            <a:r>
              <a:rPr lang="en-IN" sz="1800" b="1" dirty="0"/>
              <a:t>IBM </a:t>
            </a:r>
            <a:r>
              <a:rPr lang="en-IN" sz="1800" b="1" dirty="0" err="1"/>
              <a:t>Watsonx</a:t>
            </a:r>
            <a:r>
              <a:rPr lang="en-IN" sz="1800" b="1" dirty="0"/>
              <a:t> Orchestrate</a:t>
            </a:r>
            <a:r>
              <a:rPr lang="en-IN" sz="1800" dirty="0"/>
              <a:t> – Used to design and manage the multi-agent research workflow, coordinating different research tasks efficiently. </a:t>
            </a:r>
          </a:p>
          <a:p>
            <a:r>
              <a:rPr lang="en-IN" sz="1800" b="1" dirty="0"/>
              <a:t>IBM Granite Model (Granite 3.x)</a:t>
            </a:r>
            <a:r>
              <a:rPr lang="en-IN" sz="1800" dirty="0"/>
              <a:t> – Used for natural language understanding, research paper summarization, hypothesis generation, and report writing. </a:t>
            </a:r>
          </a:p>
          <a:p>
            <a:r>
              <a:rPr lang="en-IN" sz="1800" b="1" dirty="0"/>
              <a:t>IBM Cloud</a:t>
            </a:r>
            <a:r>
              <a:rPr lang="en-IN" sz="1800" dirty="0"/>
              <a:t> – Provides a secure, reliable, and scalable platform for deploying and managing the Research Agent. </a:t>
            </a:r>
          </a:p>
          <a:p>
            <a:r>
              <a:rPr lang="en-IN" sz="1800" b="1" dirty="0"/>
              <a:t>Retrieval-Augmented Generation (RAG)</a:t>
            </a:r>
            <a:r>
              <a:rPr lang="en-IN" sz="1800" dirty="0"/>
              <a:t> – Retrieves relevant information from research papers and knowledge sources before generating accurate responses. </a:t>
            </a:r>
          </a:p>
          <a:p>
            <a:r>
              <a:rPr lang="en-IN" sz="1800" b="1" dirty="0"/>
              <a:t>IBM Watsonx.ai</a:t>
            </a:r>
            <a:r>
              <a:rPr lang="en-IN" sz="1800" dirty="0"/>
              <a:t> – Used for model deployment, prompt engineering, embeddings, and AI-powered research assistance.</a:t>
            </a:r>
          </a:p>
          <a:p>
            <a:endParaRPr lang="en-IN" sz="1800" dirty="0"/>
          </a:p>
          <a:p>
            <a:r>
              <a:rPr lang="en-IN" sz="2400" b="1" dirty="0"/>
              <a:t>Technology Stack Summary</a:t>
            </a:r>
          </a:p>
          <a:p>
            <a:endParaRPr lang="en-IN" sz="1800" dirty="0"/>
          </a:p>
          <a:p>
            <a:r>
              <a:rPr lang="en-IN" sz="1600" dirty="0"/>
              <a:t>IBM </a:t>
            </a:r>
            <a:r>
              <a:rPr lang="en-IN" sz="1600" dirty="0" err="1"/>
              <a:t>Watsonx</a:t>
            </a:r>
            <a:r>
              <a:rPr lang="en-IN" sz="1600" dirty="0"/>
              <a:t> Orchestrate</a:t>
            </a:r>
          </a:p>
          <a:p>
            <a:r>
              <a:rPr lang="en-IN" sz="1600" dirty="0"/>
              <a:t>IBM Granite 3.x</a:t>
            </a:r>
          </a:p>
          <a:p>
            <a:r>
              <a:rPr lang="en-IN" sz="1600" dirty="0"/>
              <a:t>IBM Watsonx.ai</a:t>
            </a:r>
          </a:p>
          <a:p>
            <a:r>
              <a:rPr lang="en-IN" sz="1600" dirty="0"/>
              <a:t>IBM Cloud</a:t>
            </a:r>
          </a:p>
          <a:p>
            <a:r>
              <a:rPr lang="en-IN" sz="1600" dirty="0"/>
              <a:t>RAG (Retrieval-Augmented Generation)</a:t>
            </a:r>
          </a:p>
          <a:p>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3220"/>
          </a:xfrm>
          <a:prstGeom prst="rect">
            <a:avLst/>
          </a:prstGeom>
          <a:noFill/>
        </p:spPr>
        <p:txBody>
          <a:bodyPr wrap="square" rtlCol="0">
            <a:spAutoFit/>
          </a:bodyPr>
          <a:lstStyle/>
          <a:p>
            <a:pPr fontAlgn="base"/>
            <a:endParaRPr lang="en-US" b="1"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1534922" y="532638"/>
            <a:ext cx="7214616" cy="6247864"/>
          </a:xfrm>
          <a:prstGeom prst="rect">
            <a:avLst/>
          </a:prstGeom>
          <a:noFill/>
        </p:spPr>
        <p:txBody>
          <a:bodyPr wrap="square" rtlCol="0">
            <a:spAutoFit/>
          </a:bodyPr>
          <a:lstStyle/>
          <a:p>
            <a:r>
              <a:rPr lang="en-US" sz="2400" b="1" dirty="0"/>
              <a:t>Proposed Solution - </a:t>
            </a:r>
            <a:r>
              <a:rPr lang="en-IN" sz="2400" dirty="0"/>
              <a:t>AI-Powered Research Agent</a:t>
            </a:r>
            <a:endParaRPr lang="en-IN" sz="2400" b="1" dirty="0"/>
          </a:p>
          <a:p>
            <a:endParaRPr lang="en-IN" sz="2400" b="1" dirty="0"/>
          </a:p>
          <a:p>
            <a:r>
              <a:rPr lang="en-IN" sz="1600" dirty="0"/>
              <a:t>The proposed solution is a </a:t>
            </a:r>
            <a:r>
              <a:rPr lang="en-IN" sz="1600" b="1" dirty="0"/>
              <a:t>multi-agent AI-powered Research Agent</a:t>
            </a:r>
            <a:r>
              <a:rPr lang="en-IN" sz="1600" dirty="0"/>
              <a:t> built using </a:t>
            </a:r>
            <a:r>
              <a:rPr lang="en-IN" sz="1600" b="1" dirty="0"/>
              <a:t>IBM </a:t>
            </a:r>
            <a:r>
              <a:rPr lang="en-IN" sz="1600" b="1" dirty="0" err="1"/>
              <a:t>Watsonx</a:t>
            </a:r>
            <a:r>
              <a:rPr lang="en-IN" sz="1600" b="1" dirty="0"/>
              <a:t> Orchestrate, IBM Granite Models, IBM Watsonx.ai, and RAG</a:t>
            </a:r>
            <a:r>
              <a:rPr lang="en-IN" sz="1600" dirty="0"/>
              <a:t> to simplify academic and scientific research. The system helps users search research papers, summarize findings, manage citations, identify research gaps, and generate research reports efficiently.</a:t>
            </a:r>
          </a:p>
          <a:p>
            <a:r>
              <a:rPr lang="en-IN" sz="1600" dirty="0"/>
              <a:t>The solution uses a </a:t>
            </a:r>
            <a:r>
              <a:rPr lang="en-IN" sz="1600" b="1" dirty="0"/>
              <a:t>RAG-based knowledge retrieval system</a:t>
            </a:r>
            <a:r>
              <a:rPr lang="en-IN" sz="1600" dirty="0"/>
              <a:t> to fetch relevant information from research papers and academic sources before generating responses. IBM Granite models are used for reasoning, summarization, and content generation.</a:t>
            </a:r>
          </a:p>
          <a:p>
            <a:r>
              <a:rPr lang="en-IN" sz="1600" dirty="0"/>
              <a:t>The system consists of five key agents:</a:t>
            </a:r>
          </a:p>
          <a:p>
            <a:r>
              <a:rPr lang="en-IN" sz="1600" b="1" dirty="0"/>
              <a:t>Literature Search Agent</a:t>
            </a:r>
            <a:r>
              <a:rPr lang="en-IN" sz="1600" dirty="0"/>
              <a:t> – Retrieves relevant research papers and articles. </a:t>
            </a:r>
          </a:p>
          <a:p>
            <a:r>
              <a:rPr lang="en-IN" sz="1600" b="1" dirty="0"/>
              <a:t>Research Summarization Agent</a:t>
            </a:r>
            <a:r>
              <a:rPr lang="en-IN" sz="1600" dirty="0"/>
              <a:t> – Generates concise paper summaries. </a:t>
            </a:r>
          </a:p>
          <a:p>
            <a:r>
              <a:rPr lang="en-IN" sz="1600" b="1" dirty="0"/>
              <a:t>Citation Management Agent</a:t>
            </a:r>
            <a:r>
              <a:rPr lang="en-IN" sz="1600" dirty="0"/>
              <a:t> – Creates and organizes references. </a:t>
            </a:r>
          </a:p>
          <a:p>
            <a:r>
              <a:rPr lang="en-IN" sz="1600" b="1" dirty="0"/>
              <a:t>Research Gap Analysis Agent</a:t>
            </a:r>
            <a:r>
              <a:rPr lang="en-IN" sz="1600" dirty="0"/>
              <a:t> – Identifies limitations and future opportunities. </a:t>
            </a:r>
          </a:p>
          <a:p>
            <a:r>
              <a:rPr lang="en-IN" sz="1600" b="1" dirty="0"/>
              <a:t>Report Generation Agent</a:t>
            </a:r>
            <a:r>
              <a:rPr lang="en-IN" sz="1600" dirty="0"/>
              <a:t> – Produces literature reviews and research reports. </a:t>
            </a:r>
          </a:p>
          <a:p>
            <a:r>
              <a:rPr lang="en-IN" sz="1600" b="1" dirty="0"/>
              <a:t>IBM </a:t>
            </a:r>
            <a:r>
              <a:rPr lang="en-IN" sz="1600" b="1" dirty="0" err="1"/>
              <a:t>Watsonx</a:t>
            </a:r>
            <a:r>
              <a:rPr lang="en-IN" sz="1600" b="1" dirty="0"/>
              <a:t> Orchestrate</a:t>
            </a:r>
            <a:r>
              <a:rPr lang="en-IN" sz="1600" dirty="0"/>
              <a:t> manages agent workflows, while </a:t>
            </a:r>
            <a:r>
              <a:rPr lang="en-IN" sz="1600" b="1" dirty="0"/>
              <a:t>IBM Watsonx.ai</a:t>
            </a:r>
            <a:r>
              <a:rPr lang="en-IN" sz="1600" dirty="0"/>
              <a:t> provides AI services and embeddings. Overall, the solution delivers an intelligent research assistant that improves research efficiency, accuracy, and innovation for students, researchers, and professionals. 🚀🔬</a:t>
            </a:r>
          </a:p>
          <a:p>
            <a:endParaRPr lang="en-IN" sz="1600"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err="1"/>
              <a:t>Watsonx</a:t>
            </a:r>
            <a:r>
              <a:rPr lang="en-IN" sz="2400" b="1" dirty="0"/>
              <a:t> Orchestrate Components Used</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16380" y="1146673"/>
            <a:ext cx="8823960" cy="4585871"/>
          </a:xfrm>
          <a:prstGeom prst="rect">
            <a:avLst/>
          </a:prstGeom>
          <a:noFill/>
        </p:spPr>
        <p:txBody>
          <a:bodyPr wrap="square" rtlCol="0">
            <a:spAutoFit/>
          </a:bodyPr>
          <a:lstStyle/>
          <a:p>
            <a:r>
              <a:rPr lang="en-IN" sz="1600" b="1" dirty="0"/>
              <a:t>1) Chat Input</a:t>
            </a:r>
            <a:r>
              <a:rPr lang="en-IN" sz="1600" dirty="0"/>
              <a:t> – Interface where users enter research questions, paper topics, keywords, or upload research documents.</a:t>
            </a:r>
          </a:p>
          <a:p>
            <a:r>
              <a:rPr lang="en-IN" sz="1600" b="1" dirty="0"/>
              <a:t>2) IBM </a:t>
            </a:r>
            <a:r>
              <a:rPr lang="en-IN" sz="1600" b="1" dirty="0" err="1"/>
              <a:t>Watsonx</a:t>
            </a:r>
            <a:r>
              <a:rPr lang="en-IN" sz="1600" b="1" dirty="0"/>
              <a:t> AI Agent</a:t>
            </a:r>
            <a:r>
              <a:rPr lang="en-IN" sz="1600" dirty="0"/>
              <a:t> – Processes user queries using IBM Granite models and generates research insights, summaries, and recommendations.</a:t>
            </a:r>
          </a:p>
          <a:p>
            <a:r>
              <a:rPr lang="en-IN" sz="1600" b="1" dirty="0"/>
              <a:t>3) Name of IBM Granite Model</a:t>
            </a:r>
            <a:r>
              <a:rPr lang="en-IN" sz="1600" dirty="0"/>
              <a:t> – </a:t>
            </a:r>
            <a:r>
              <a:rPr lang="en-IN" sz="1600" b="1" dirty="0"/>
              <a:t>Granite-3.3-8B-Instruct</a:t>
            </a:r>
            <a:r>
              <a:rPr lang="en-IN" sz="1600" dirty="0"/>
              <a:t> → Used for research paper summarization, reasoning, citation generation, and report creation.</a:t>
            </a:r>
          </a:p>
          <a:p>
            <a:r>
              <a:rPr lang="en-IN" sz="1600" b="1" dirty="0"/>
              <a:t>4) Chat Output</a:t>
            </a:r>
            <a:r>
              <a:rPr lang="en-IN" sz="1600" dirty="0"/>
              <a:t> – Displays AI-generated responses such as paper summaries, literature reviews, research gaps, citations, and reports.</a:t>
            </a:r>
          </a:p>
          <a:p>
            <a:r>
              <a:rPr lang="en-IN" sz="1600" b="1" dirty="0"/>
              <a:t>5) File Component</a:t>
            </a:r>
            <a:r>
              <a:rPr lang="en-IN" sz="1600" dirty="0"/>
              <a:t> – Stores and retrieves research papers, journals, academic articles, and knowledge-base documents for RAG-based retrieval.</a:t>
            </a:r>
          </a:p>
          <a:p>
            <a:r>
              <a:rPr lang="en-IN" sz="1600" b="1" dirty="0"/>
              <a:t>6) Knowledge Base / RAG Component</a:t>
            </a:r>
            <a:r>
              <a:rPr lang="en-IN" sz="1600" dirty="0"/>
              <a:t> – Retrieves relevant information from uploaded research documents and trusted academic sources before generating responses.</a:t>
            </a:r>
          </a:p>
          <a:p>
            <a:endParaRPr lang="en-US" sz="1600"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876694" y="2533476"/>
            <a:ext cx="2833324" cy="3447832"/>
          </a:xfrm>
          <a:prstGeom prst="rect">
            <a:avLst/>
          </a:prstGeom>
        </p:spPr>
        <p:txBody>
          <a:bodyPr spcFirstLastPara="1" vert="horz" lIns="91440" tIns="45720" rIns="91440" bIns="45720" rtlCol="0" anchor="t" anchorCtr="0">
            <a:normAutofit/>
          </a:bodyPr>
          <a:lstStyle/>
          <a:p>
            <a:pPr marL="0" marR="0" lvl="0" indent="-228600">
              <a:lnSpc>
                <a:spcPct val="90000"/>
              </a:lnSpc>
              <a:spcBef>
                <a:spcPts val="0"/>
              </a:spcBef>
              <a:spcAft>
                <a:spcPts val="600"/>
              </a:spcAft>
              <a:buClr>
                <a:srgbClr val="051D3A"/>
              </a:buClr>
              <a:buSzPts val="3500"/>
              <a:buFont typeface="Arial" panose="020B0604020202020204" pitchFamily="34" charset="0"/>
              <a:buChar char="•"/>
            </a:pPr>
            <a:r>
              <a:rPr lang="en-US" sz="2000" b="1" kern="1200">
                <a:solidFill>
                  <a:schemeClr val="tx1"/>
                </a:solidFill>
                <a:latin typeface="+mn-lt"/>
                <a:ea typeface="+mn-ea"/>
                <a:cs typeface="+mn-cs"/>
                <a:sym typeface="Times New Roman"/>
              </a:rPr>
              <a:t>Screenshots –</a:t>
            </a:r>
          </a:p>
          <a:p>
            <a:pPr marL="0" marR="0" lvl="0" indent="-228600">
              <a:lnSpc>
                <a:spcPct val="90000"/>
              </a:lnSpc>
              <a:spcBef>
                <a:spcPts val="0"/>
              </a:spcBef>
              <a:spcAft>
                <a:spcPts val="600"/>
              </a:spcAft>
              <a:buClr>
                <a:srgbClr val="051D3A"/>
              </a:buClr>
              <a:buSzPts val="3500"/>
              <a:buFont typeface="Arial" panose="020B0604020202020204" pitchFamily="34" charset="0"/>
              <a:buChar char="•"/>
            </a:pPr>
            <a:endParaRPr lang="en-US" sz="2000" b="1" kern="1200">
              <a:solidFill>
                <a:schemeClr val="tx1"/>
              </a:solidFill>
              <a:latin typeface="+mn-lt"/>
              <a:ea typeface="+mn-ea"/>
              <a:cs typeface="+mn-cs"/>
              <a:sym typeface="Times New Roman"/>
            </a:endParaRPr>
          </a:p>
          <a:p>
            <a:pPr lvl="0" indent="-228600">
              <a:lnSpc>
                <a:spcPct val="90000"/>
              </a:lnSpc>
              <a:spcAft>
                <a:spcPts val="600"/>
              </a:spcAft>
              <a:buClr>
                <a:srgbClr val="051D3A"/>
              </a:buClr>
              <a:buSzPts val="3500"/>
              <a:buFont typeface="Arial" panose="020B0604020202020204" pitchFamily="34" charset="0"/>
              <a:buChar char="•"/>
            </a:pPr>
            <a:r>
              <a:rPr lang="en-US" sz="2000" kern="1200">
                <a:solidFill>
                  <a:schemeClr val="tx1"/>
                </a:solidFill>
                <a:latin typeface="+mn-lt"/>
                <a:ea typeface="+mn-ea"/>
                <a:cs typeface="+mn-cs"/>
              </a:rPr>
              <a:t>Research Agent Created &amp;                                                Knowledge Base                                                                         </a:t>
            </a: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kern="1200">
              <a:solidFill>
                <a:schemeClr val="tx1"/>
              </a:solidFill>
              <a:latin typeface="+mn-lt"/>
              <a:ea typeface="+mn-ea"/>
              <a:cs typeface="+mn-cs"/>
            </a:endParaRPr>
          </a:p>
          <a:p>
            <a:pPr lvl="0" indent="-228600">
              <a:lnSpc>
                <a:spcPct val="90000"/>
              </a:lnSpc>
              <a:spcAft>
                <a:spcPts val="600"/>
              </a:spcAft>
              <a:buClr>
                <a:srgbClr val="051D3A"/>
              </a:buClr>
              <a:buSzPts val="3500"/>
              <a:buFont typeface="Arial" panose="020B0604020202020204" pitchFamily="34" charset="0"/>
              <a:buChar char="•"/>
            </a:pPr>
            <a:endParaRPr lang="en-US" sz="2000" b="1" kern="1200">
              <a:solidFill>
                <a:schemeClr val="tx1"/>
              </a:solidFill>
              <a:latin typeface="+mn-lt"/>
              <a:ea typeface="+mn-ea"/>
              <a:cs typeface="+mn-cs"/>
              <a:sym typeface="Times New Roman"/>
            </a:endParaRPr>
          </a:p>
        </p:txBody>
      </p:sp>
      <p:pic>
        <p:nvPicPr>
          <p:cNvPr id="5" name="Picture 4">
            <a:extLst>
              <a:ext uri="{FF2B5EF4-FFF2-40B4-BE49-F238E27FC236}">
                <a16:creationId xmlns:a16="http://schemas.microsoft.com/office/drawing/2014/main" id="{116540D0-9AC0-3984-7417-89E5356D5C5F}"/>
              </a:ext>
            </a:extLst>
          </p:cNvPr>
          <p:cNvPicPr>
            <a:picLocks noChangeAspect="1"/>
          </p:cNvPicPr>
          <p:nvPr/>
        </p:nvPicPr>
        <p:blipFill>
          <a:blip r:embed="rId3"/>
          <a:stretch>
            <a:fillRect/>
          </a:stretch>
        </p:blipFill>
        <p:spPr>
          <a:xfrm>
            <a:off x="4522471" y="1477759"/>
            <a:ext cx="3287840" cy="3902481"/>
          </a:xfrm>
          <a:prstGeom prst="rect">
            <a:avLst/>
          </a:prstGeom>
        </p:spPr>
      </p:pic>
      <p:pic>
        <p:nvPicPr>
          <p:cNvPr id="7" name="Picture 6">
            <a:extLst>
              <a:ext uri="{FF2B5EF4-FFF2-40B4-BE49-F238E27FC236}">
                <a16:creationId xmlns:a16="http://schemas.microsoft.com/office/drawing/2014/main" id="{69B2B84E-42A3-E7C0-B62B-7DA21347AE6F}"/>
              </a:ext>
            </a:extLst>
          </p:cNvPr>
          <p:cNvPicPr>
            <a:picLocks noChangeAspect="1"/>
          </p:cNvPicPr>
          <p:nvPr/>
        </p:nvPicPr>
        <p:blipFill>
          <a:blip r:embed="rId4"/>
          <a:stretch>
            <a:fillRect/>
          </a:stretch>
        </p:blipFill>
        <p:spPr>
          <a:xfrm>
            <a:off x="7983780" y="1988115"/>
            <a:ext cx="3331526" cy="2881769"/>
          </a:xfrm>
          <a:prstGeom prst="rect">
            <a:avLst/>
          </a:prstGeom>
        </p:spPr>
      </p:pic>
      <p:grpSp>
        <p:nvGrpSpPr>
          <p:cNvPr id="12" name="Group 11">
            <a:extLst>
              <a:ext uri="{FF2B5EF4-FFF2-40B4-BE49-F238E27FC236}">
                <a16:creationId xmlns:a16="http://schemas.microsoft.com/office/drawing/2014/main" id="{792AA144-DDFF-C43B-6866-516C9091D0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6737460"/>
            <a:ext cx="12192000" cy="123364"/>
            <a:chOff x="1" y="6737460"/>
            <a:chExt cx="12192000" cy="123364"/>
          </a:xfrm>
        </p:grpSpPr>
        <p:sp>
          <p:nvSpPr>
            <p:cNvPr id="13" name="Rectangle 12">
              <a:extLst>
                <a:ext uri="{FF2B5EF4-FFF2-40B4-BE49-F238E27FC236}">
                  <a16:creationId xmlns:a16="http://schemas.microsoft.com/office/drawing/2014/main" id="{56557A69-9517-26A8-EF3F-E65057EEC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C5987E-7AB5-0A21-D727-68B38B342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96FB6FE-9898-83C4-5D08-C309B634BDC0}"/>
              </a:ext>
            </a:extLst>
          </p:cNvPr>
          <p:cNvSpPr>
            <a:spLocks noGrp="1"/>
          </p:cNvSpPr>
          <p:nvPr>
            <p:ph type="title"/>
          </p:nvPr>
        </p:nvSpPr>
        <p:spPr>
          <a:xfrm>
            <a:off x="838200" y="365125"/>
            <a:ext cx="10515600" cy="1860400"/>
          </a:xfrm>
        </p:spPr>
        <p:txBody>
          <a:bodyPr>
            <a:normAutofit/>
          </a:bodyPr>
          <a:lstStyle/>
          <a:p>
            <a:r>
              <a:rPr lang="en-IN" sz="2900"/>
              <a:t>Agent Preview &amp; Deployment  :</a:t>
            </a:r>
            <a:br>
              <a:rPr lang="en-IN" sz="2900"/>
            </a:br>
            <a:br>
              <a:rPr lang="en-IN" sz="2900"/>
            </a:br>
            <a:br>
              <a:rPr lang="en-IN" sz="2900"/>
            </a:br>
            <a:endParaRPr lang="en-IN" sz="2900"/>
          </a:p>
        </p:txBody>
      </p:sp>
      <p:pic>
        <p:nvPicPr>
          <p:cNvPr id="6" name="Picture 5">
            <a:extLst>
              <a:ext uri="{FF2B5EF4-FFF2-40B4-BE49-F238E27FC236}">
                <a16:creationId xmlns:a16="http://schemas.microsoft.com/office/drawing/2014/main" id="{5A007D62-ADEC-31A7-E3BB-7E24BD0A78B6}"/>
              </a:ext>
            </a:extLst>
          </p:cNvPr>
          <p:cNvPicPr>
            <a:picLocks noChangeAspect="1"/>
          </p:cNvPicPr>
          <p:nvPr/>
        </p:nvPicPr>
        <p:blipFill>
          <a:blip r:embed="rId2"/>
          <a:stretch>
            <a:fillRect/>
          </a:stretch>
        </p:blipFill>
        <p:spPr>
          <a:xfrm>
            <a:off x="1116090" y="2365285"/>
            <a:ext cx="3958548" cy="3938756"/>
          </a:xfrm>
          <a:prstGeom prst="rect">
            <a:avLst/>
          </a:prstGeom>
        </p:spPr>
      </p:pic>
      <p:pic>
        <p:nvPicPr>
          <p:cNvPr id="8" name="Picture 7">
            <a:extLst>
              <a:ext uri="{FF2B5EF4-FFF2-40B4-BE49-F238E27FC236}">
                <a16:creationId xmlns:a16="http://schemas.microsoft.com/office/drawing/2014/main" id="{5B5E85BF-C7D5-3235-ABB1-6AC2114A0849}"/>
              </a:ext>
            </a:extLst>
          </p:cNvPr>
          <p:cNvPicPr>
            <a:picLocks noChangeAspect="1"/>
          </p:cNvPicPr>
          <p:nvPr/>
        </p:nvPicPr>
        <p:blipFill>
          <a:blip r:embed="rId3"/>
          <a:stretch>
            <a:fillRect/>
          </a:stretch>
        </p:blipFill>
        <p:spPr>
          <a:xfrm>
            <a:off x="6182505" y="2768317"/>
            <a:ext cx="5828261" cy="3448237"/>
          </a:xfrm>
          <a:prstGeom prst="rect">
            <a:avLst/>
          </a:prstGeom>
        </p:spPr>
      </p:pic>
    </p:spTree>
    <p:extLst>
      <p:ext uri="{BB962C8B-B14F-4D97-AF65-F5344CB8AC3E}">
        <p14:creationId xmlns:p14="http://schemas.microsoft.com/office/powerpoint/2010/main" val="278533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p>
          <a:p>
            <a:pPr lvl="0"/>
            <a:endParaRPr lang="en-US" sz="2400" b="1" dirty="0">
              <a:solidFill>
                <a:schemeClr val="dk1"/>
              </a:solidFill>
              <a:latin typeface="Calibri"/>
              <a:ea typeface="Calibri"/>
              <a:cs typeface="Calibri"/>
              <a:sym typeface="Calibri"/>
            </a:endParaRPr>
          </a:p>
          <a:p>
            <a:pPr lvl="0"/>
            <a:endParaRPr lang="en-US" sz="2400" b="1" dirty="0">
              <a:solidFill>
                <a:schemeClr val="dk1"/>
              </a:solidFill>
              <a:latin typeface="Calibri"/>
              <a:ea typeface="Calibri"/>
              <a:cs typeface="Calibri"/>
              <a:sym typeface="Calibri"/>
            </a:endParaRPr>
          </a:p>
          <a:p>
            <a:pPr lvl="0"/>
            <a:endParaRPr lang="en-US" sz="2400" b="1" dirty="0">
              <a:solidFill>
                <a:schemeClr val="dk1"/>
              </a:solidFill>
              <a:latin typeface="Calibri"/>
              <a:ea typeface="Calibri"/>
              <a:cs typeface="Calibri"/>
              <a:sym typeface="Calibri"/>
            </a:endParaRPr>
          </a:p>
          <a:p>
            <a:pPr lvl="0"/>
            <a:endParaRPr lang="en-US" sz="2400" b="1"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1611223F-A5C9-BFB2-1A5A-CAE9C8AC438B}"/>
              </a:ext>
            </a:extLst>
          </p:cNvPr>
          <p:cNvPicPr>
            <a:picLocks noChangeAspect="1"/>
          </p:cNvPicPr>
          <p:nvPr/>
        </p:nvPicPr>
        <p:blipFill>
          <a:blip r:embed="rId3"/>
          <a:stretch>
            <a:fillRect/>
          </a:stretch>
        </p:blipFill>
        <p:spPr>
          <a:xfrm>
            <a:off x="537590" y="965200"/>
            <a:ext cx="11121010" cy="5359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1"/>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84A7B44-8B20-5A39-ED43-DA98D0FC7976}"/>
              </a:ext>
            </a:extLst>
          </p:cNvPr>
          <p:cNvSpPr txBox="1"/>
          <p:nvPr/>
        </p:nvSpPr>
        <p:spPr>
          <a:xfrm>
            <a:off x="572493" y="238539"/>
            <a:ext cx="11018520" cy="143441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600" b="1" kern="1200">
                <a:solidFill>
                  <a:schemeClr val="tx1"/>
                </a:solidFill>
                <a:latin typeface="+mj-lt"/>
                <a:ea typeface="+mj-ea"/>
                <a:cs typeface="+mj-cs"/>
              </a:rPr>
              <a:t>Role of Agentic AI in Research Agent</a:t>
            </a:r>
          </a:p>
        </p:txBody>
      </p:sp>
      <p:sp>
        <p:nvSpPr>
          <p:cNvPr id="308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22462E8-EB3A-DA7D-44CB-4E757803A755}"/>
              </a:ext>
            </a:extLst>
          </p:cNvPr>
          <p:cNvSpPr txBox="1"/>
          <p:nvPr/>
        </p:nvSpPr>
        <p:spPr>
          <a:xfrm>
            <a:off x="572493" y="2071316"/>
            <a:ext cx="6713552" cy="41191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Agentic AI enables the Research Agent to function as an intelligent, autonomous system rather than a simple chatbot. Using IBM Watsonx.ai and IBM Granite Models, it coordinates multiple specialized agents to perform research-related tasks efficiently.</a:t>
            </a:r>
          </a:p>
          <a:p>
            <a:pPr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Each agent handles a specific responsibility such as literature search, paper summarization, citation generation, research gap analysis, and report creation while collaborating with other agents to deliver accurate results.</a:t>
            </a:r>
          </a:p>
          <a:p>
            <a:pPr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This multi-agent approach improves task execution, enhances reasoning, and reduces the time required for academic and scientific research. Agentic AI also provides context awareness by understanding user queries, research domains, and document content to generate relevant responses.</a:t>
            </a:r>
          </a:p>
          <a:p>
            <a:pPr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It supports real-time adaptation by continuously refining outputs based on user feedback and newly available information. Through collaboration between agents, the system can make better decisions and provide more comprehensive research insights.</a:t>
            </a:r>
          </a:p>
          <a:p>
            <a:pPr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Overall, Agentic AI transforms the Research Agent into a proactive and goal-driven research assistant that accelerates knowledge discovery, improves productivity, and supports evidence-based innovation.</a:t>
            </a:r>
          </a:p>
          <a:p>
            <a:pPr indent="-228600">
              <a:lnSpc>
                <a:spcPct val="90000"/>
              </a:lnSpc>
              <a:spcAft>
                <a:spcPts val="600"/>
              </a:spcAft>
              <a:buFont typeface="Arial" panose="020B0604020202020204" pitchFamily="34" charset="0"/>
              <a:buChar char="•"/>
            </a:pPr>
            <a:endParaRPr lang="en-US" kern="1200" dirty="0">
              <a:solidFill>
                <a:schemeClr val="tx1"/>
              </a:solidFill>
              <a:latin typeface="+mn-lt"/>
              <a:ea typeface="+mn-ea"/>
              <a:cs typeface="+mn-cs"/>
            </a:endParaRPr>
          </a:p>
        </p:txBody>
      </p:sp>
      <p:pic>
        <p:nvPicPr>
          <p:cNvPr id="3074" name="Picture 2" descr="Reading a Research Paper Effortlessly with ChatGPT | Medium">
            <a:extLst>
              <a:ext uri="{FF2B5EF4-FFF2-40B4-BE49-F238E27FC236}">
                <a16:creationId xmlns:a16="http://schemas.microsoft.com/office/drawing/2014/main" id="{1FE0BFDD-5E10-1419-3D81-69BB1E77A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795" r="-3" b="-3"/>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001095"/>
          </a:xfrm>
          <a:prstGeom prst="rect">
            <a:avLst/>
          </a:prstGeom>
          <a:noFill/>
        </p:spPr>
        <p:txBody>
          <a:bodyPr wrap="square" rtlCol="0">
            <a:spAutoFit/>
          </a:bodyPr>
          <a:lstStyle/>
          <a:p>
            <a:r>
              <a:rPr lang="en-IN" sz="1600" dirty="0"/>
              <a:t>The proposed </a:t>
            </a:r>
            <a:r>
              <a:rPr lang="en-IN" sz="1600" b="1" dirty="0"/>
              <a:t>Research Agent</a:t>
            </a:r>
            <a:r>
              <a:rPr lang="en-IN" sz="1600" dirty="0"/>
              <a:t> stands out by combining </a:t>
            </a:r>
            <a:r>
              <a:rPr lang="en-IN" sz="1600" b="1" dirty="0"/>
              <a:t>Agentic AI, Retrieval-Augmented Generation (RAG), and IBM Granite Models</a:t>
            </a:r>
            <a:r>
              <a:rPr lang="en-IN" sz="1600" dirty="0"/>
              <a:t> into a single intelligent research platform. Unlike traditional search tools, the system not only retrieves information but also understands, </a:t>
            </a:r>
            <a:r>
              <a:rPr lang="en-IN" sz="1600" dirty="0" err="1"/>
              <a:t>analyzes</a:t>
            </a:r>
            <a:r>
              <a:rPr lang="en-IN" sz="1600" dirty="0"/>
              <a:t>, and generates meaningful research insights.</a:t>
            </a:r>
          </a:p>
          <a:p>
            <a:r>
              <a:rPr lang="en-IN" sz="1600" b="1" dirty="0"/>
              <a:t>Multi-Agent Intelligence</a:t>
            </a:r>
            <a:r>
              <a:rPr lang="en-IN" sz="1600" dirty="0"/>
              <a:t> – Multiple specialized agents collaborate to perform literature search, paper summarization, citation generation, research gap analysis, and report creation.</a:t>
            </a:r>
          </a:p>
          <a:p>
            <a:r>
              <a:rPr lang="en-IN" sz="1600" b="1" dirty="0"/>
              <a:t>RAG-Based Accuracy</a:t>
            </a:r>
            <a:r>
              <a:rPr lang="en-IN" sz="1600" dirty="0"/>
              <a:t> – Integrates real-time knowledge retrieval from research papers, journals, and uploaded documents before generating responses, ensuring reliable and evidence-based outputs.</a:t>
            </a:r>
          </a:p>
          <a:p>
            <a:r>
              <a:rPr lang="en-IN" sz="1600" b="1" dirty="0"/>
              <a:t>Research Gap Identification</a:t>
            </a:r>
            <a:r>
              <a:rPr lang="en-IN" sz="1600" dirty="0"/>
              <a:t> – Helps researchers discover limitations, unexplored areas, and future research opportunities from existing literature.</a:t>
            </a:r>
          </a:p>
          <a:p>
            <a:r>
              <a:rPr lang="en-IN" sz="1600" b="1" dirty="0"/>
              <a:t>Automated Research Assistance</a:t>
            </a:r>
            <a:r>
              <a:rPr lang="en-IN" sz="1600" dirty="0"/>
              <a:t> – Reduces manual effort by automating time-consuming tasks such as literature review, citation management, and report generation.</a:t>
            </a:r>
          </a:p>
          <a:p>
            <a:r>
              <a:rPr lang="en-IN" sz="1600" b="1" dirty="0"/>
              <a:t>Scalable &amp; Enterprise-Ready</a:t>
            </a:r>
            <a:r>
              <a:rPr lang="en-IN" sz="1600" dirty="0"/>
              <a:t> – Built on IBM </a:t>
            </a:r>
            <a:r>
              <a:rPr lang="en-IN" sz="1600" dirty="0" err="1"/>
              <a:t>Watsonx</a:t>
            </a:r>
            <a:r>
              <a:rPr lang="en-IN" sz="1600" dirty="0"/>
              <a:t> Orchestrate, IBM Watsonx.ai, and IBM Granite Models, ensuring security, scalability, and reliability.</a:t>
            </a:r>
          </a:p>
          <a:p>
            <a:r>
              <a:rPr lang="en-IN" sz="1600" dirty="0"/>
              <a:t>This makes the solution a </a:t>
            </a:r>
            <a:r>
              <a:rPr lang="en-IN" sz="1600" b="1" dirty="0"/>
              <a:t>smart, autonomous, and efficient research assistant</a:t>
            </a:r>
            <a:r>
              <a:rPr lang="en-IN" sz="1600" dirty="0"/>
              <a:t> that accelerates knowledge discovery and improves research productivity.</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2400" dirty="0" err="1">
                <a:solidFill>
                  <a:srgbClr val="2B3541"/>
                </a:solidFill>
                <a:latin typeface="Times New Roman"/>
                <a:ea typeface="Times New Roman"/>
                <a:cs typeface="Times New Roman"/>
                <a:sym typeface="Times New Roman"/>
              </a:rPr>
              <a:t>Github</a:t>
            </a:r>
            <a:r>
              <a:rPr lang="en-US" sz="2400" dirty="0">
                <a:solidFill>
                  <a:srgbClr val="2B3541"/>
                </a:solidFill>
                <a:latin typeface="Times New Roman"/>
                <a:ea typeface="Times New Roman"/>
                <a:cs typeface="Times New Roman"/>
                <a:sym typeface="Times New Roman"/>
              </a:rPr>
              <a:t> URL –   https://github.com/ranaveer53/AI-Research-Agent.git</a:t>
            </a: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346200"/>
            <a:ext cx="9214580" cy="4152516"/>
          </a:xfrm>
          <a:prstGeom prst="rect">
            <a:avLst/>
          </a:prstGeom>
          <a:noFill/>
          <a:ln>
            <a:noFill/>
          </a:ln>
        </p:spPr>
        <p:txBody>
          <a:bodyPr spcFirstLastPara="1" wrap="square" lIns="0" tIns="0" rIns="0" bIns="0" anchor="t" anchorCtr="0">
            <a:noAutofit/>
          </a:bodyPr>
          <a:lstStyle/>
          <a:p>
            <a:r>
              <a:rPr lang="en-IN" sz="1800" b="1" dirty="0"/>
              <a:t>1. Integration with Academic Databases</a:t>
            </a:r>
          </a:p>
          <a:p>
            <a:r>
              <a:rPr lang="en-IN" sz="1800" dirty="0"/>
              <a:t>The Research Agent can be integrated with academic databases such as IEEE Xplore, Springer, ScienceDirect, and Google Scholar to access the latest research publications and improve literature retrieval.</a:t>
            </a:r>
          </a:p>
          <a:p>
            <a:r>
              <a:rPr lang="en-IN" sz="1800" b="1" dirty="0"/>
              <a:t>2. AI-Powered Voice Assistant &amp; Multilingual Support</a:t>
            </a:r>
          </a:p>
          <a:p>
            <a:r>
              <a:rPr lang="en-IN" sz="1800" dirty="0"/>
              <a:t>Future versions can support voice-based interactions and multiple languages, allowing researchers worldwide to access research assistance more conveniently and efficiently.</a:t>
            </a:r>
          </a:p>
          <a:p>
            <a:r>
              <a:rPr lang="en-IN" sz="1800" b="1" dirty="0"/>
              <a:t>3. Advanced Research Gap Detection</a:t>
            </a:r>
          </a:p>
          <a:p>
            <a:r>
              <a:rPr lang="en-IN" sz="1800" dirty="0"/>
              <a:t>The system can be enhanced to automatically identify emerging trends, unexplored research areas, and potential opportunities for innovation.</a:t>
            </a:r>
          </a:p>
          <a:p>
            <a:r>
              <a:rPr lang="en-IN" sz="1800" b="1" dirty="0"/>
              <a:t>4. Collaborative Research Workspace</a:t>
            </a:r>
          </a:p>
          <a:p>
            <a:r>
              <a:rPr lang="en-IN" sz="1800" dirty="0"/>
              <a:t>Researchers can collaborate, share documents, generate joint reports, and track research progress within a unified platform.</a:t>
            </a:r>
          </a:p>
          <a:p>
            <a:r>
              <a:rPr lang="en-IN" sz="1800" b="1" dirty="0"/>
              <a:t>5. Automated Paper Writing Assistance</a:t>
            </a:r>
          </a:p>
          <a:p>
            <a:r>
              <a:rPr lang="en-IN" sz="1800" dirty="0"/>
              <a:t>The agent can assist in drafting research papers, generating abstracts, formatting citations, and preparing publication-ready documents.</a:t>
            </a:r>
          </a:p>
          <a:p>
            <a:pPr marL="0" marR="0" lvl="0" indent="0" algn="l" rtl="0">
              <a:lnSpc>
                <a:spcPct val="162162"/>
              </a:lnSpc>
              <a:spcBef>
                <a:spcPts val="0"/>
              </a:spcBef>
              <a:spcAft>
                <a:spcPts val="0"/>
              </a:spcAft>
              <a:buClr>
                <a:srgbClr val="2B3541"/>
              </a:buClr>
              <a:buSzPts val="1850"/>
              <a:buFont typeface="Times New Roman"/>
              <a:buNone/>
            </a:pPr>
            <a:endParaRPr lang="en-US"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4132</TotalTime>
  <Words>1234</Words>
  <Application>Microsoft Office PowerPoint</Application>
  <PresentationFormat>Widescreen</PresentationFormat>
  <Paragraphs>134</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Agent Preview &amp; Deployment  :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Ranaveer Gangarapu</cp:lastModifiedBy>
  <cp:revision>22</cp:revision>
  <dcterms:created xsi:type="dcterms:W3CDTF">2025-07-08T05:06:56Z</dcterms:created>
  <dcterms:modified xsi:type="dcterms:W3CDTF">2026-06-05T07:35:21Z</dcterms:modified>
</cp:coreProperties>
</file>